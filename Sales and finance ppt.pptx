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55" autoAdjust="0"/>
  </p:normalViewPr>
  <p:slideViewPr>
    <p:cSldViewPr snapToGrid="0">
      <p:cViewPr varScale="1">
        <p:scale>
          <a:sx n="104" d="100"/>
          <a:sy n="104" d="100"/>
        </p:scale>
        <p:origin x="759" y="5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0A5DF-EBC2-0F3C-65D7-CCF78B7F5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98F5D1-C9E9-B73F-6304-4CB777F6C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7E409-D62C-D155-71B9-928B71149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1BC36-BAF4-4F71-B684-CCF8E355E46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917D1-4A95-8B23-398B-5BEA882F2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45EA1-D5BC-CF50-2E5C-2E7D1D94D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A22DC-F60B-46EF-A21F-A910AF49B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96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B0FB9-86D0-0FF8-B35E-CFA405B13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1E88C-30D5-64B2-9EC4-96C0C81AE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F086E-8EB1-22A4-9ACC-9C1506A3F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1BC36-BAF4-4F71-B684-CCF8E355E46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78608-A599-1601-6A81-CE995FA75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862BF-C6DA-8BB4-C6A4-9F5AE3803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A22DC-F60B-46EF-A21F-A910AF49B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53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069E4-CBD8-325A-EFEE-5DCB27611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B754B-21DB-F10A-C8F7-B9F043F71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618E1-17AD-2712-C651-DDF641113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1BC36-BAF4-4F71-B684-CCF8E355E46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910A3-F032-288A-29FA-B0C4629C9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EE1FA-393C-398E-17B1-1CFB3BBE7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A22DC-F60B-46EF-A21F-A910AF49B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94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0ACA-C105-75F0-DE65-5DA92DF0E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5DFB6-5283-FE6D-8860-2B8C2A0B67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13AB84-8BF8-24C3-1346-C46E21687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BCBFC-9E85-4805-58A3-6A977E42D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1BC36-BAF4-4F71-B684-CCF8E355E46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6BFCE-9BB5-11B0-5458-CDF6DE215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7BE20-CFCB-F89E-49DD-BF4455BEE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A22DC-F60B-46EF-A21F-A910AF49B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65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9A543-5438-FE17-11BF-0BAC94051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10908-1D4F-F4CA-D31F-B5A7BFA82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4EC8A-96BF-8DD9-5D3E-876567EEF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E6D074-6D82-3C22-5A75-10A0D67AD9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01D83E-2839-A77B-5929-271FE22E61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F3FB7E-CAE8-2B19-0AA0-E003F3BA1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1BC36-BAF4-4F71-B684-CCF8E355E46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0CCB27-6FDF-30E9-4735-3F2135A95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355A6C-E393-5CC8-670D-DE864B6E4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A22DC-F60B-46EF-A21F-A910AF49B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305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C9A50-382D-0609-423C-7CF471308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2C82BD-7183-AF79-F1A7-E1C8C526E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1BC36-BAF4-4F71-B684-CCF8E355E46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9BAB12-D407-FA7F-3D8D-993AD3FD2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760A42-581A-0BF6-6F68-F2E41FA24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A22DC-F60B-46EF-A21F-A910AF49B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39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157CF3-9F88-AC22-FC11-0F461E5FE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1BC36-BAF4-4F71-B684-CCF8E355E46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92F124-635B-EC87-59D7-3FFCD87C7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A2633-F0E2-BDD3-9098-6CB517F9E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A22DC-F60B-46EF-A21F-A910AF49B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77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A4937-10C3-17D6-333A-42C4B76C2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4941E-7609-B004-9FA3-4B56F7548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0C55C-E6B3-4B83-24C9-3353DC94E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FEEC-78FC-0429-9953-A19B6C3CF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1BC36-BAF4-4F71-B684-CCF8E355E46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8FFC6-198E-5752-D151-0F9EB3D0E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0746E-8983-0DC5-4CC0-4236ACBE1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A22DC-F60B-46EF-A21F-A910AF49B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3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D1E97-6077-045C-E8C1-EB6D57307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A02430-37C3-393D-18C2-2783BDDAD4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C5DC6-80D5-27D6-465F-D466C94C8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912A6-36A3-A7E3-3B2D-75B1899C6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1BC36-BAF4-4F71-B684-CCF8E355E46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4B66D-7556-F3C7-007E-DF255A01E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6C99F-B14A-D225-EED1-C9D27BCAE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A22DC-F60B-46EF-A21F-A910AF49B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839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D68E1-0C8C-B7A6-DD93-2E9F22DDD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DC89F7-B35B-D52B-E538-42E2BC288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D80C1-B730-F61F-D8FE-E96E626CA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1BC36-BAF4-4F71-B684-CCF8E355E46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7AE09-10FD-6B97-E341-B7F71E2E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DD0B0-7BC9-143C-A0B6-055CC457C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A22DC-F60B-46EF-A21F-A910AF49B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48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5FCDC2-B03C-9659-07A3-86C96AD8C9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40D26A-AB15-77CC-6FFF-07B755E2F2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4E555-5DD3-B298-A825-918C9F3CC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1BC36-BAF4-4F71-B684-CCF8E355E46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E4F10-EB18-F439-E4E4-F68A4E1D7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94EF5-790E-0925-A81C-6721BC95E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A22DC-F60B-46EF-A21F-A910AF49B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39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3480EC-9CDC-35D1-A16E-CD2F0243E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BCFC4-C26E-F981-9E9B-EE489E5F7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94E6A-15ED-6E95-4EA8-9E26D6D4E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01BC36-BAF4-4F71-B684-CCF8E355E46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B8BB1-FBB3-A2DA-40F5-15DBF6D32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7EBBE-FEEF-C2BB-3875-B545DE2A5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BA22DC-F60B-46EF-A21F-A910AF49B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26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260+ Computer Parts And Peripherals Stock Photos, Pictures &amp; Royalty-Free  Images - iStock">
            <a:extLst>
              <a:ext uri="{FF2B5EF4-FFF2-40B4-BE49-F238E27FC236}">
                <a16:creationId xmlns:a16="http://schemas.microsoft.com/office/drawing/2014/main" id="{B56E76D5-6210-EE8F-BDDE-C486935C6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9" r="2667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93AEA9-39F1-97A0-00BB-0E98E99BD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3678" y="1342214"/>
            <a:ext cx="3926398" cy="1750103"/>
          </a:xfrm>
          <a:noFill/>
        </p:spPr>
        <p:txBody>
          <a:bodyPr>
            <a:normAutofit/>
          </a:bodyPr>
          <a:lstStyle/>
          <a:p>
            <a:pPr algn="l"/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AtliQ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Hardware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6A62D-AF60-507B-10AA-641D27C54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3678" y="3092317"/>
            <a:ext cx="3445766" cy="844953"/>
          </a:xfrm>
          <a:noFill/>
        </p:spPr>
        <p:txBody>
          <a:bodyPr>
            <a:normAutofit/>
          </a:bodyPr>
          <a:lstStyle/>
          <a:p>
            <a:pPr algn="l"/>
            <a:r>
              <a:rPr lang="en-US" dirty="0"/>
              <a:t>Sales &amp; Financial Analytics (2019–2021)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D68E34-536D-E4D8-196E-3FD60916C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0109" y="164114"/>
            <a:ext cx="698670" cy="6837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FFB6AD-C2C4-8575-CFE7-A8ECF4128369}"/>
              </a:ext>
            </a:extLst>
          </p:cNvPr>
          <p:cNvSpPr txBox="1"/>
          <p:nvPr/>
        </p:nvSpPr>
        <p:spPr>
          <a:xfrm>
            <a:off x="7973678" y="3801753"/>
            <a:ext cx="4093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From Raw Data to Executive 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97DE93-E872-98B7-2661-3ECA12F8DD4D}"/>
              </a:ext>
            </a:extLst>
          </p:cNvPr>
          <p:cNvSpPr txBox="1"/>
          <p:nvPr/>
        </p:nvSpPr>
        <p:spPr>
          <a:xfrm>
            <a:off x="8882702" y="6390371"/>
            <a:ext cx="3285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Presenter:</a:t>
            </a:r>
            <a:r>
              <a:rPr lang="en-US" dirty="0"/>
              <a:t> Nayan Jyoti Baishya</a:t>
            </a:r>
          </a:p>
        </p:txBody>
      </p:sp>
    </p:spTree>
    <p:extLst>
      <p:ext uri="{BB962C8B-B14F-4D97-AF65-F5344CB8AC3E}">
        <p14:creationId xmlns:p14="http://schemas.microsoft.com/office/powerpoint/2010/main" val="52578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Graph">
            <a:extLst>
              <a:ext uri="{FF2B5EF4-FFF2-40B4-BE49-F238E27FC236}">
                <a16:creationId xmlns:a16="http://schemas.microsoft.com/office/drawing/2014/main" id="{0C16A00B-78C2-D692-4A8D-28E5E28156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87" r="37153"/>
          <a:stretch>
            <a:fillRect/>
          </a:stretch>
        </p:blipFill>
        <p:spPr>
          <a:xfrm>
            <a:off x="7036395" y="10"/>
            <a:ext cx="5155605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143A54-1CE3-C49C-6125-C829AA725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159188"/>
            <a:ext cx="6160095" cy="74572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3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Project Objective &amp; Scope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5E9DAB-79CB-8F18-4F5C-2ABB5D08CF80}"/>
              </a:ext>
            </a:extLst>
          </p:cNvPr>
          <p:cNvSpPr txBox="1"/>
          <p:nvPr/>
        </p:nvSpPr>
        <p:spPr>
          <a:xfrm>
            <a:off x="412072" y="1159774"/>
            <a:ext cx="8415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Empowering Data-Driven Decisions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35092A-9705-A8AF-022A-3A40B7FA2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7" y="23620"/>
            <a:ext cx="698670" cy="68370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D6955C-EC1B-9BC5-1C50-3C2DCCFED699}"/>
              </a:ext>
            </a:extLst>
          </p:cNvPr>
          <p:cNvSpPr/>
          <p:nvPr/>
        </p:nvSpPr>
        <p:spPr>
          <a:xfrm>
            <a:off x="7036395" y="0"/>
            <a:ext cx="5092868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44FF25-186C-3571-1D22-FA05198DE642}"/>
              </a:ext>
            </a:extLst>
          </p:cNvPr>
          <p:cNvSpPr txBox="1"/>
          <p:nvPr/>
        </p:nvSpPr>
        <p:spPr>
          <a:xfrm>
            <a:off x="412072" y="1682994"/>
            <a:ext cx="7355547" cy="4501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8600" b="1" dirty="0"/>
              <a:t>Objective 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6400" dirty="0"/>
              <a:t>To </a:t>
            </a:r>
            <a:r>
              <a:rPr kumimoji="0" lang="en-US" altLang="en-US" sz="64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 and develop a robust reporting system that tracks </a:t>
            </a:r>
            <a:r>
              <a:rPr kumimoji="0" lang="en-US" altLang="en-US" sz="64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Atliq</a:t>
            </a:r>
            <a:r>
              <a:rPr kumimoji="0" lang="en-US" altLang="en-US" sz="64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Hardware's global sales performance, and financial health.</a:t>
            </a:r>
          </a:p>
          <a:p>
            <a:pPr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altLang="en-US" sz="8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 of Development</a:t>
            </a:r>
          </a:p>
          <a:p>
            <a:pPr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altLang="en-US" sz="6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Consolidation of multi-year data (2019-2021).</a:t>
            </a:r>
          </a:p>
          <a:p>
            <a:pPr marL="0" lvl="1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</a:pPr>
            <a:r>
              <a:rPr kumimoji="0" lang="en-US" altLang="en-US" sz="64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Creation of distinct views for Sales (customer, division, geography, product) and Finance (P&amp;L statements).</a:t>
            </a:r>
          </a:p>
          <a:p>
            <a:pPr marL="0" lvl="1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</a:pPr>
            <a:r>
              <a:rPr kumimoji="0" lang="en-US" altLang="en-US" sz="64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Establishment of performance benchmarks against predefined targets.</a:t>
            </a:r>
          </a:p>
          <a:p>
            <a:pPr marR="0" lv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5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7670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5DAD4-51F9-1DBF-565A-1BD584BD6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CF52-83D7-38AF-7DB7-48C54E777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159188"/>
            <a:ext cx="6891319" cy="74572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3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Data Architecture &amp; Structuring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DBF679-2C7C-6B8B-7B3B-D135BA395A6A}"/>
              </a:ext>
            </a:extLst>
          </p:cNvPr>
          <p:cNvSpPr txBox="1"/>
          <p:nvPr/>
        </p:nvSpPr>
        <p:spPr>
          <a:xfrm>
            <a:off x="412072" y="1682994"/>
            <a:ext cx="6502249" cy="4330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8600" b="1" dirty="0"/>
              <a:t>Process 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6400" dirty="0"/>
              <a:t>Transformed raw transaction logs into structured datasets suitable for advanced analytics.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8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Dimensions Established</a:t>
            </a:r>
          </a:p>
          <a:p>
            <a:pPr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altLang="en-US" sz="6500" dirty="0"/>
              <a:t>Time Intelligence: Fiscal years, quarters, and monthly granular reporting.</a:t>
            </a:r>
          </a:p>
          <a:p>
            <a:pPr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altLang="en-US" sz="6500" dirty="0"/>
              <a:t>Geographical Mapping: Region, Market, and Country-level hierarchies.</a:t>
            </a:r>
          </a:p>
          <a:p>
            <a:pPr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altLang="en-US" sz="6500" dirty="0"/>
              <a:t>Product Hierarchy: Divisions (N&amp;S, P&amp;A, PC), product categories, and individual SKUs.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828AA0-50E5-9204-C67A-53C36A548059}"/>
              </a:ext>
            </a:extLst>
          </p:cNvPr>
          <p:cNvSpPr txBox="1"/>
          <p:nvPr/>
        </p:nvSpPr>
        <p:spPr>
          <a:xfrm>
            <a:off x="412072" y="1159774"/>
            <a:ext cx="8415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Building the Foundation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0F9DD0-E63A-CDFF-FF00-8410DDD95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7" y="23620"/>
            <a:ext cx="698670" cy="6837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0D923B-3235-88A5-F597-E98B8DB36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621" y="1351101"/>
            <a:ext cx="5277679" cy="466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96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7AC94A-3FA9-53FF-1479-8BD666927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6BDB1-4F06-AC5A-D72E-F0872B1BC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159188"/>
            <a:ext cx="6891319" cy="7457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3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Developing the Sales 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0AD44D-5B29-E9B1-B6C0-5E05B6CE6FAE}"/>
              </a:ext>
            </a:extLst>
          </p:cNvPr>
          <p:cNvSpPr txBox="1"/>
          <p:nvPr/>
        </p:nvSpPr>
        <p:spPr>
          <a:xfrm>
            <a:off x="412072" y="1682994"/>
            <a:ext cx="6502249" cy="4330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8600" b="1" dirty="0"/>
              <a:t>Report Structure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6400" dirty="0"/>
              <a:t>Designed to isolate top-line growth metrics across multiple axes.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8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Reports Developed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6500" dirty="0"/>
              <a:t>Customer Performance: Tracking platform growth (e.g., Amazon, Flipkart, </a:t>
            </a:r>
            <a:r>
              <a:rPr lang="en-US" altLang="en-US" sz="6500" dirty="0" err="1"/>
              <a:t>Atliq</a:t>
            </a:r>
            <a:r>
              <a:rPr lang="en-US" altLang="en-US" sz="6500" dirty="0"/>
              <a:t> e-Store).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6500" dirty="0"/>
              <a:t>Division Growth: Year-over-year comparative analysis across PC, P&amp;A, and N&amp;S divisions.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6500" dirty="0"/>
              <a:t>Market vs. Target: A variance analysis report calculating the exact deficit/surplus against 2021 revenue goals.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0AF8B5-1136-000F-4DDB-24B7CC5CDF0B}"/>
              </a:ext>
            </a:extLst>
          </p:cNvPr>
          <p:cNvSpPr txBox="1"/>
          <p:nvPr/>
        </p:nvSpPr>
        <p:spPr>
          <a:xfrm>
            <a:off x="412072" y="1159774"/>
            <a:ext cx="8415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Tracking Revenue Drivers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5CD1B7-FA56-032A-BF4A-4F0009FE8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7" y="23620"/>
            <a:ext cx="698670" cy="6837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9C1B12-904B-6533-BF97-45F313D9D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-4612"/>
            <a:ext cx="4991100" cy="686261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4EE2CE1-A7CF-86BF-4ACE-61F05FA9289D}"/>
              </a:ext>
            </a:extLst>
          </p:cNvPr>
          <p:cNvSpPr/>
          <p:nvPr/>
        </p:nvSpPr>
        <p:spPr>
          <a:xfrm>
            <a:off x="7200899" y="0"/>
            <a:ext cx="2667001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38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4559C-386E-D804-7788-404025E33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656C377-2DF3-570B-C27D-D5785CEE742B}"/>
              </a:ext>
            </a:extLst>
          </p:cNvPr>
          <p:cNvSpPr txBox="1"/>
          <p:nvPr/>
        </p:nvSpPr>
        <p:spPr>
          <a:xfrm>
            <a:off x="412072" y="1427978"/>
            <a:ext cx="6502249" cy="5015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8600" b="1" dirty="0"/>
              <a:t>Report Structure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6400" dirty="0"/>
              <a:t>Built to provide visibility into operational efficiency and profitability.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8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Reports Developed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6500" dirty="0"/>
              <a:t>Net Sales: Deducting discounts and returns from gross revenue.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6500" dirty="0"/>
              <a:t>COGS (Cost of Goods Sold): Tracking the direct costs attributable to hardware production.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6500" dirty="0"/>
              <a:t>Gross Margin (GM) &amp; GM%: Formulated to monitor profitability trends over time, ensuring that volume growth translates to actual business value.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BC718C-FF74-BB30-34DA-24E092378EAC}"/>
              </a:ext>
            </a:extLst>
          </p:cNvPr>
          <p:cNvSpPr txBox="1"/>
          <p:nvPr/>
        </p:nvSpPr>
        <p:spPr>
          <a:xfrm>
            <a:off x="412072" y="1159774"/>
            <a:ext cx="8415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Architecting the P&amp;L Statements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2E080E-DA2D-2BA9-7791-87EF73E86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7" y="23620"/>
            <a:ext cx="698670" cy="6837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D77BC5-736E-D417-8AA4-394007CA4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899" y="0"/>
            <a:ext cx="49911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6B6D40-6BE4-7411-926A-C38402AA62DA}"/>
              </a:ext>
            </a:extLst>
          </p:cNvPr>
          <p:cNvSpPr/>
          <p:nvPr/>
        </p:nvSpPr>
        <p:spPr>
          <a:xfrm>
            <a:off x="7200899" y="0"/>
            <a:ext cx="2667001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E0323F-623E-AEC8-2F1F-B4FAC64E5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159188"/>
            <a:ext cx="7137400" cy="7457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3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Developing the Finance View</a:t>
            </a:r>
          </a:p>
        </p:txBody>
      </p:sp>
    </p:spTree>
    <p:extLst>
      <p:ext uri="{BB962C8B-B14F-4D97-AF65-F5344CB8AC3E}">
        <p14:creationId xmlns:p14="http://schemas.microsoft.com/office/powerpoint/2010/main" val="3300414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4FF4E0-3BB3-01F0-051B-38337FA02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31B8E0-D6C7-C05E-A0E2-C56201EA0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0"/>
            <a:ext cx="50292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9D2DEA-8656-F1F7-5857-08714B846892}"/>
              </a:ext>
            </a:extLst>
          </p:cNvPr>
          <p:cNvSpPr txBox="1"/>
          <p:nvPr/>
        </p:nvSpPr>
        <p:spPr>
          <a:xfrm>
            <a:off x="412072" y="1514257"/>
            <a:ext cx="7423828" cy="5320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8600" b="1" dirty="0"/>
              <a:t>The Data</a:t>
            </a:r>
          </a:p>
          <a:p>
            <a:pPr marL="571500" marR="0" lvl="0" indent="-40005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6600" dirty="0"/>
              <a:t>Net sales grew from </a:t>
            </a:r>
            <a:r>
              <a:rPr lang="en-US" sz="6600" b="1" dirty="0"/>
              <a:t>$87.4M</a:t>
            </a:r>
            <a:r>
              <a:rPr lang="en-US" sz="6600" dirty="0"/>
              <a:t> in 2019 to an impressive </a:t>
            </a:r>
            <a:r>
              <a:rPr lang="en-US" sz="6600" b="1" dirty="0"/>
              <a:t>$598.8M</a:t>
            </a:r>
            <a:r>
              <a:rPr lang="en-US" sz="6600" dirty="0"/>
              <a:t> in 2021.</a:t>
            </a:r>
          </a:p>
          <a:p>
            <a:pPr marL="571500" indent="-4000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6600" dirty="0"/>
              <a:t>2021 saw a </a:t>
            </a:r>
            <a:r>
              <a:rPr lang="en-US" sz="6600" b="1" dirty="0"/>
              <a:t>~204%</a:t>
            </a:r>
            <a:r>
              <a:rPr lang="en-US" sz="6600" dirty="0"/>
              <a:t> year-over-year growth compared to 2020 ($196.6M).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8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Takeaway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6500" dirty="0"/>
              <a:t>The company is in a phase of hyper-growth, successfully scaling its operations and market penetration over a three-year window.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DBA47A-2DFF-9411-6C98-0B5CE436E8EA}"/>
              </a:ext>
            </a:extLst>
          </p:cNvPr>
          <p:cNvSpPr txBox="1"/>
          <p:nvPr/>
        </p:nvSpPr>
        <p:spPr>
          <a:xfrm>
            <a:off x="412072" y="1159774"/>
            <a:ext cx="8415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Scaling Revenue from 2019 to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F33971-734C-861A-F3CD-044B1FC6F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7" y="23620"/>
            <a:ext cx="698670" cy="68370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DCC43D2-CE18-C582-571C-9B3D3EA57CC7}"/>
              </a:ext>
            </a:extLst>
          </p:cNvPr>
          <p:cNvSpPr/>
          <p:nvPr/>
        </p:nvSpPr>
        <p:spPr>
          <a:xfrm>
            <a:off x="7162801" y="0"/>
            <a:ext cx="27051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2110A7-771C-233C-C976-E1502FDB5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159188"/>
            <a:ext cx="7950840" cy="74572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3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Insight 1 - Explosive Top-Line Growth</a:t>
            </a:r>
          </a:p>
        </p:txBody>
      </p:sp>
    </p:spTree>
    <p:extLst>
      <p:ext uri="{BB962C8B-B14F-4D97-AF65-F5344CB8AC3E}">
        <p14:creationId xmlns:p14="http://schemas.microsoft.com/office/powerpoint/2010/main" val="3594967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3DF102-20E5-6EA2-AAD1-084DE0CF5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660641-8CE1-F29B-A01A-F3D161E1E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0" y="1"/>
            <a:ext cx="49911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3E4677-715E-9118-457D-A12830840959}"/>
              </a:ext>
            </a:extLst>
          </p:cNvPr>
          <p:cNvSpPr txBox="1"/>
          <p:nvPr/>
        </p:nvSpPr>
        <p:spPr>
          <a:xfrm>
            <a:off x="412072" y="1159774"/>
            <a:ext cx="8415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Scaling Revenue from 2019 to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FB2949-0D7C-AE4B-F2C5-F57D928AB1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7" y="23620"/>
            <a:ext cx="698670" cy="68370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42750B-40F7-992A-A630-00894ACF1B7B}"/>
              </a:ext>
            </a:extLst>
          </p:cNvPr>
          <p:cNvSpPr/>
          <p:nvPr/>
        </p:nvSpPr>
        <p:spPr>
          <a:xfrm>
            <a:off x="7200900" y="-14480"/>
            <a:ext cx="32258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42DD55-09AF-ADE5-423B-4443FA1FE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159188"/>
            <a:ext cx="7950840" cy="74572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3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Insight 2 - The Profitability Squeeze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23810-F4B2-8246-397D-175210E720DC}"/>
              </a:ext>
            </a:extLst>
          </p:cNvPr>
          <p:cNvSpPr txBox="1"/>
          <p:nvPr/>
        </p:nvSpPr>
        <p:spPr>
          <a:xfrm>
            <a:off x="412072" y="1514257"/>
            <a:ext cx="7423828" cy="5320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8600" b="1" dirty="0"/>
              <a:t>The Data</a:t>
            </a:r>
          </a:p>
          <a:p>
            <a:pPr marL="571500" marR="0" lvl="0" indent="-40005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6600" dirty="0"/>
              <a:t>Despite massive revenue growth, the Gross Margin percentage (GM%) has steadily declined.</a:t>
            </a:r>
          </a:p>
          <a:p>
            <a:pPr marL="571500" marR="0" lvl="0" indent="-40005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6600" dirty="0"/>
              <a:t>GM% dropped from 41.4% in 2019 to 37.2% in 2020, and further down to 36.4% in 2021.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8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Takeaway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6500" dirty="0"/>
              <a:t>Cost of Goods Sold (COGS) is rising faster than pricing adjustments can compensate. The company is trading margin for market share.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F2BD15A-A2A9-5638-D566-1C101029BEC2}"/>
              </a:ext>
            </a:extLst>
          </p:cNvPr>
          <p:cNvGrpSpPr/>
          <p:nvPr/>
        </p:nvGrpSpPr>
        <p:grpSpPr>
          <a:xfrm rot="3481491">
            <a:off x="8333145" y="2246407"/>
            <a:ext cx="4502836" cy="830997"/>
            <a:chOff x="2880580" y="2733959"/>
            <a:chExt cx="6430838" cy="139008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AC80304-F6BD-9F40-6945-93305BE61EF9}"/>
                </a:ext>
              </a:extLst>
            </p:cNvPr>
            <p:cNvSpPr/>
            <p:nvPr/>
          </p:nvSpPr>
          <p:spPr>
            <a:xfrm>
              <a:off x="2880580" y="2733959"/>
              <a:ext cx="6430838" cy="139008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8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accent5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</a:rPr>
                <a:t>Gross Margin %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BDEBCF6-1C60-43ED-B9F8-CA9E59DC5969}"/>
                </a:ext>
              </a:extLst>
            </p:cNvPr>
            <p:cNvSpPr/>
            <p:nvPr/>
          </p:nvSpPr>
          <p:spPr>
            <a:xfrm>
              <a:off x="2880580" y="2733960"/>
              <a:ext cx="6430838" cy="139008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800" b="1" cap="none" spc="0" dirty="0">
                  <a:ln w="12700">
                    <a:solidFill>
                      <a:schemeClr val="accent5"/>
                    </a:solidFill>
                    <a:prstDash val="solid"/>
                  </a:ln>
                  <a:pattFill prst="ltDnDiag">
                    <a:fgClr>
                      <a:schemeClr val="accent5">
                        <a:lumMod val="60000"/>
                        <a:lumOff val="40000"/>
                      </a:schemeClr>
                    </a:fgClr>
                    <a:bgClr>
                      <a:schemeClr val="bg1"/>
                    </a:bgClr>
                  </a:pattFill>
                  <a:effectLst/>
                </a:rPr>
                <a:t>Gross Margin 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746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511B45-C931-EFEC-CA6F-1A80AA404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2E80DA-F57E-D481-B783-70DAFB4A7C62}"/>
              </a:ext>
            </a:extLst>
          </p:cNvPr>
          <p:cNvSpPr txBox="1"/>
          <p:nvPr/>
        </p:nvSpPr>
        <p:spPr>
          <a:xfrm>
            <a:off x="412072" y="1159774"/>
            <a:ext cx="8415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Scaling Revenue from 2019 to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9C2718-05B5-2637-74FD-CBCF984DB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7" y="23620"/>
            <a:ext cx="698670" cy="6837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8FAD17-1850-7FA0-4C98-C17DD5C04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793" y="827625"/>
            <a:ext cx="4241207" cy="60067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CBB580-EDE4-A484-CE14-0CD334930C89}"/>
              </a:ext>
            </a:extLst>
          </p:cNvPr>
          <p:cNvSpPr/>
          <p:nvPr/>
        </p:nvSpPr>
        <p:spPr>
          <a:xfrm>
            <a:off x="7200900" y="-14480"/>
            <a:ext cx="32258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9C6EFF-CE4D-3A20-C5FF-2619F54E6AAC}"/>
              </a:ext>
            </a:extLst>
          </p:cNvPr>
          <p:cNvSpPr txBox="1"/>
          <p:nvPr/>
        </p:nvSpPr>
        <p:spPr>
          <a:xfrm>
            <a:off x="412072" y="1514257"/>
            <a:ext cx="7423828" cy="5320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8600" b="1" dirty="0"/>
              <a:t>The Data</a:t>
            </a:r>
          </a:p>
          <a:p>
            <a:pPr marL="571500" marR="0" lvl="0" indent="-40005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6600" dirty="0"/>
              <a:t>Top Performers (2021): India leads massively with $161.2M, followed by the USA ($87.7M) and South Korea ($48.9M).</a:t>
            </a:r>
          </a:p>
          <a:p>
            <a:pPr marL="571500" marR="0" lvl="0" indent="-40005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6600" dirty="0"/>
              <a:t>Target Variance: Several key markets missed their 2021 targets. For example, Canada missed by -$5.06M (-14.4%), and Poland missed by -$940K (-18.1%).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8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Takeaway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6500" dirty="0"/>
              <a:t>While the absolute numbers in top markets are strong, forecasting and execution in secondary markets require strategic realignment.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10CAC-523B-29C3-2D4F-2EB981847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159188"/>
            <a:ext cx="11315700" cy="74572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3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Insight 3 - Geographic Performance &amp; Missed Targets</a:t>
            </a:r>
          </a:p>
        </p:txBody>
      </p:sp>
    </p:spTree>
    <p:extLst>
      <p:ext uri="{BB962C8B-B14F-4D97-AF65-F5344CB8AC3E}">
        <p14:creationId xmlns:p14="http://schemas.microsoft.com/office/powerpoint/2010/main" val="555807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BF527A-2DB8-2365-16FE-46C557756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0CA8374-B2F3-DA11-F32A-0036B98C9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7" y="23620"/>
            <a:ext cx="698670" cy="6837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6A3207-1F4F-4FEA-0C5D-45A21271FD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146"/>
          <a:stretch>
            <a:fillRect/>
          </a:stretch>
        </p:blipFill>
        <p:spPr>
          <a:xfrm>
            <a:off x="7950200" y="0"/>
            <a:ext cx="42418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396CF13-A3C7-7A85-1E14-98D1BAADB841}"/>
              </a:ext>
            </a:extLst>
          </p:cNvPr>
          <p:cNvSpPr/>
          <p:nvPr/>
        </p:nvSpPr>
        <p:spPr>
          <a:xfrm>
            <a:off x="7950200" y="0"/>
            <a:ext cx="29464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F714BF-FD77-5A59-E2DA-D16D27DA1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159188"/>
            <a:ext cx="8597900" cy="74572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3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Insight 4 - Product Innovation &amp; Volume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814327-8161-41F9-ADBB-40B45A203E2F}"/>
              </a:ext>
            </a:extLst>
          </p:cNvPr>
          <p:cNvSpPr txBox="1"/>
          <p:nvPr/>
        </p:nvSpPr>
        <p:spPr>
          <a:xfrm>
            <a:off x="412072" y="1159774"/>
            <a:ext cx="7728628" cy="5499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8600" b="1" dirty="0"/>
              <a:t>The Data</a:t>
            </a:r>
          </a:p>
          <a:p>
            <a:pPr marL="571500" marR="0" lvl="0" indent="-40005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6600" dirty="0"/>
              <a:t>New Releases: Products launched in 2021 generated a staggering $176.1M in new revenue (e.g., AQ Qwerty, AQ Trigger).</a:t>
            </a:r>
          </a:p>
          <a:p>
            <a:pPr marL="571500" marR="0" lvl="0" indent="-40005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6600" dirty="0"/>
              <a:t>Volume Drivers: The "AQ Gamers" and "AQ Master" series dominate in pure unit volume (over 3M-4M units each).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8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Takeaway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6500" dirty="0"/>
              <a:t>Rapid R&amp;D and new product deployment are critical engines for </a:t>
            </a:r>
            <a:r>
              <a:rPr lang="en-US" altLang="en-US" sz="6500" dirty="0" err="1"/>
              <a:t>Atliq's</a:t>
            </a:r>
            <a:r>
              <a:rPr lang="en-US" altLang="en-US" sz="6500" dirty="0"/>
              <a:t> revenue model, successfully capturing consumer interest in the gaming and PC accessory segments.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A2C4B7-0C73-675A-230C-6F3802BCA7D5}"/>
              </a:ext>
            </a:extLst>
          </p:cNvPr>
          <p:cNvSpPr txBox="1"/>
          <p:nvPr/>
        </p:nvSpPr>
        <p:spPr>
          <a:xfrm>
            <a:off x="412072" y="1159774"/>
            <a:ext cx="8415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Impact of New Stock Keeping Units (SKUs)</a:t>
            </a:r>
          </a:p>
        </p:txBody>
      </p:sp>
    </p:spTree>
    <p:extLst>
      <p:ext uri="{BB962C8B-B14F-4D97-AF65-F5344CB8AC3E}">
        <p14:creationId xmlns:p14="http://schemas.microsoft.com/office/powerpoint/2010/main" val="3578106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12DBE0-8C22-C07F-CC44-F1EB1E5A4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3F7A242-9232-BDA2-16A2-FED101356A91}"/>
              </a:ext>
            </a:extLst>
          </p:cNvPr>
          <p:cNvSpPr txBox="1"/>
          <p:nvPr/>
        </p:nvSpPr>
        <p:spPr>
          <a:xfrm>
            <a:off x="412072" y="1095753"/>
            <a:ext cx="8415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Actionable Next Steps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39B2C8-3DCC-3E3B-2558-E36A83DE4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7" y="23620"/>
            <a:ext cx="698670" cy="6837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932A6C-699A-7EEC-384B-570A12C8C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159188"/>
            <a:ext cx="8597900" cy="7457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3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Strategic Recommendations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F0DD0E-D909-2FBF-06B6-F35EA4899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0" y="0"/>
            <a:ext cx="49149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89A46DE-0611-F2E4-FF6D-549C7FFA0C9C}"/>
              </a:ext>
            </a:extLst>
          </p:cNvPr>
          <p:cNvSpPr/>
          <p:nvPr/>
        </p:nvSpPr>
        <p:spPr>
          <a:xfrm>
            <a:off x="7277100" y="0"/>
            <a:ext cx="29464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22B2E9-6723-CB0A-352C-48B57BC8CA14}"/>
              </a:ext>
            </a:extLst>
          </p:cNvPr>
          <p:cNvSpPr txBox="1"/>
          <p:nvPr/>
        </p:nvSpPr>
        <p:spPr>
          <a:xfrm>
            <a:off x="412072" y="1159774"/>
            <a:ext cx="7728628" cy="5499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/>
              <a:t>Supply Chain Optimization</a:t>
            </a:r>
            <a:r>
              <a:rPr lang="en-US" altLang="en-US" sz="2400" dirty="0"/>
              <a:t>: Conduct a deep dive into the rising COGS to arrest the declining Gross Margin %.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/>
              <a:t>Target Realignment</a:t>
            </a:r>
            <a:r>
              <a:rPr lang="en-US" altLang="en-US" sz="2400" dirty="0"/>
              <a:t>: Investigate why established markets like Canada and Spain underperformed against their 2021 targets, adjusting sales strategies accordingly.</a:t>
            </a:r>
          </a:p>
          <a:p>
            <a:pPr marR="0" lvl="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/>
              <a:t>Portfolio Management</a:t>
            </a:r>
            <a:r>
              <a:rPr lang="en-US" altLang="en-US" sz="2400" dirty="0"/>
              <a:t>: Phase out bottom-performing products (e.g., AQ HOME Allin1 Gen 2) to reallocate manufacturing bandwidth to high-margin or high-volume items.</a:t>
            </a:r>
          </a:p>
        </p:txBody>
      </p:sp>
    </p:spTree>
    <p:extLst>
      <p:ext uri="{BB962C8B-B14F-4D97-AF65-F5344CB8AC3E}">
        <p14:creationId xmlns:p14="http://schemas.microsoft.com/office/powerpoint/2010/main" val="1471772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rofessional Thank You Slide for PowerPoint And Google Slides">
            <a:extLst>
              <a:ext uri="{FF2B5EF4-FFF2-40B4-BE49-F238E27FC236}">
                <a16:creationId xmlns:a16="http://schemas.microsoft.com/office/drawing/2014/main" id="{EB3402C5-3026-796B-354C-909ABD39B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E63D6A-A54E-0047-70F8-215BDF5E5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9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524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732</Words>
  <Application>Microsoft Office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AtliQ Hardware</vt:lpstr>
      <vt:lpstr>Project Objective &amp; Scope</vt:lpstr>
      <vt:lpstr>Data Architecture &amp; Structuring</vt:lpstr>
      <vt:lpstr>Developing the Sales View</vt:lpstr>
      <vt:lpstr>Developing the Finance View</vt:lpstr>
      <vt:lpstr>Insight 1 - Explosive Top-Line Growth</vt:lpstr>
      <vt:lpstr>Insight 2 - The Profitability Squeeze</vt:lpstr>
      <vt:lpstr>Insight 3 - Geographic Performance &amp; Missed Targets</vt:lpstr>
      <vt:lpstr>Insight 4 - Product Innovation &amp; Volume</vt:lpstr>
      <vt:lpstr>Strategic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Nayan Jyoti Baishya</dc:creator>
  <cp:lastModifiedBy>Nayan Jyoti Baishya</cp:lastModifiedBy>
  <cp:revision>3</cp:revision>
  <dcterms:created xsi:type="dcterms:W3CDTF">2026-03-17T12:53:50Z</dcterms:created>
  <dcterms:modified xsi:type="dcterms:W3CDTF">2026-03-17T22:09:27Z</dcterms:modified>
</cp:coreProperties>
</file>